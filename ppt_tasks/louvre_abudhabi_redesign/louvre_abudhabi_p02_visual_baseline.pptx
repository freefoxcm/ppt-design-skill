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9d27e9f5c413451f474fbc69472b7a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0"/>
            <a:ext cx="83512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76472" y="0"/>
            <a:ext cx="23774" cy="6858000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03504"/>
            <a:ext cx="2880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596973"/>
                </a:solidFill>
                <a:latin typeface="Arial Narrow"/>
              </a:rPr>
              <a:t>01  /  SPATIAL PHENOMENON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133856"/>
            <a:ext cx="658368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48132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15232D"/>
                </a:solidFill>
                <a:latin typeface="Georgia"/>
              </a:rPr>
              <a:t>RAIN
OF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88920"/>
            <a:ext cx="2852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5232D"/>
                </a:solidFill>
                <a:latin typeface="Arial Narrow"/>
              </a:rPr>
              <a:t>BENEATH A POROUS DOME,
DAYLIGHT BECOMES A
CULTURAL MEDIUM.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547872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973"/>
                </a:solidFill>
                <a:latin typeface="Arial"/>
              </a:rPr>
              <a:t>The roof does not simply shelter the museum;
it filters the sky into a moving field of light.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370832"/>
            <a:ext cx="2670048" cy="16459"/>
          </a:xfrm>
          <a:prstGeom prst="rect">
            <a:avLst/>
          </a:prstGeom>
          <a:solidFill>
            <a:srgbClr val="A3AF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590288"/>
            <a:ext cx="329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18C58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553712"/>
            <a:ext cx="2139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5232D"/>
                </a:solidFill>
                <a:latin typeface="Arial Narrow"/>
              </a:rPr>
              <a:t>PERFORATED CANOPY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800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973"/>
                </a:solidFill>
                <a:latin typeface="Arial"/>
              </a:rPr>
              <a:t>Four steel layers break the
roof into apertures.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376672"/>
            <a:ext cx="329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18C58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340096"/>
            <a:ext cx="2139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5232D"/>
                </a:solidFill>
                <a:latin typeface="Arial Narrow"/>
              </a:rPr>
              <a:t>FILTERED DAYLIGHT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5961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973"/>
                </a:solidFill>
                <a:latin typeface="Arial"/>
              </a:rPr>
              <a:t>Sunlight becomes a moving
field across the floor.</a:t>
            </a:r>
          </a:p>
        </p:txBody>
      </p:sp>
      <p:sp>
        <p:nvSpPr>
          <p:cNvPr id="17" name="Freeform"/>
          <p:cNvSpPr/>
          <p:nvPr/>
        </p:nvSpPr>
        <p:spPr>
          <a:xfrm>
            <a:off x="2708910" y="5310378"/>
            <a:ext cx="804671" cy="326897"/>
          </a:xfrm>
          <a:custGeom>
            <a:avLst/>
            <a:gdLst/>
            <a:pathLst>
              <a:path w="804671" h="326897">
                <a:moveTo>
                  <a:pt x="0" y="0"/>
                </a:moveTo>
                <a:cubicBezTo>
                  <a:pt x="0" y="0"/>
                  <a:pt x="804671" y="0"/>
                  <a:pt x="804671" y="0"/>
                </a:cubicBezTo>
                <a:close/>
                <a:moveTo>
                  <a:pt x="100583" y="108965"/>
                </a:moveTo>
                <a:cubicBezTo>
                  <a:pt x="100583" y="108965"/>
                  <a:pt x="712469" y="108965"/>
                  <a:pt x="712469" y="108965"/>
                </a:cubicBezTo>
                <a:close/>
                <a:moveTo>
                  <a:pt x="201167" y="217931"/>
                </a:moveTo>
                <a:cubicBezTo>
                  <a:pt x="201167" y="217931"/>
                  <a:pt x="620267" y="217931"/>
                  <a:pt x="620267" y="217931"/>
                </a:cubicBezTo>
                <a:close/>
                <a:moveTo>
                  <a:pt x="301751" y="326897"/>
                </a:moveTo>
                <a:cubicBezTo>
                  <a:pt x="301751" y="326897"/>
                  <a:pt x="519683" y="326897"/>
                  <a:pt x="519683" y="326897"/>
                </a:cubicBezTo>
                <a:close/>
              </a:path>
            </a:pathLst>
          </a:custGeom>
          <a:solidFill>
            <a:srgbClr val="FFFFFF"/>
          </a:solidFill>
          <a:ln w="13970">
            <a:solidFill>
              <a:srgbClr val="9DA9AB"/>
            </a:solidFill>
          </a:ln>
        </p:spPr>
      </p:sp>
      <p:sp>
        <p:nvSpPr>
          <p:cNvPr id="18" name="Freeform"/>
          <p:cNvSpPr/>
          <p:nvPr/>
        </p:nvSpPr>
        <p:spPr>
          <a:xfrm>
            <a:off x="2708910" y="5310378"/>
            <a:ext cx="804671" cy="561594"/>
          </a:xfrm>
          <a:custGeom>
            <a:avLst/>
            <a:gdLst/>
            <a:pathLst>
              <a:path w="804671" h="561594">
                <a:moveTo>
                  <a:pt x="0" y="0"/>
                </a:moveTo>
                <a:cubicBezTo>
                  <a:pt x="0" y="0"/>
                  <a:pt x="301751" y="561594"/>
                  <a:pt x="301751" y="561594"/>
                </a:cubicBezTo>
                <a:close/>
                <a:moveTo>
                  <a:pt x="804671" y="0"/>
                </a:moveTo>
                <a:cubicBezTo>
                  <a:pt x="804671" y="0"/>
                  <a:pt x="519683" y="561594"/>
                  <a:pt x="519683" y="561594"/>
                </a:cubicBezTo>
                <a:close/>
              </a:path>
            </a:pathLst>
          </a:custGeom>
          <a:solidFill>
            <a:srgbClr val="FFFFFF"/>
          </a:solidFill>
          <a:ln w="13970">
            <a:solidFill>
              <a:srgbClr val="9DA9AB"/>
            </a:solidFill>
          </a:ln>
        </p:spPr>
      </p:sp>
      <p:sp>
        <p:nvSpPr>
          <p:cNvPr id="19" name="Freeform"/>
          <p:cNvSpPr/>
          <p:nvPr/>
        </p:nvSpPr>
        <p:spPr>
          <a:xfrm>
            <a:off x="2694660" y="5296128"/>
            <a:ext cx="28498" cy="28498"/>
          </a:xfrm>
          <a:custGeom>
            <a:avLst/>
            <a:gdLst/>
            <a:pathLst>
              <a:path w="28498" h="28498">
                <a:moveTo>
                  <a:pt x="28498" y="14249"/>
                </a:moveTo>
                <a:cubicBezTo>
                  <a:pt x="28498" y="6379"/>
                  <a:pt x="22118" y="0"/>
                  <a:pt x="14249" y="0"/>
                </a:cubicBezTo>
                <a:cubicBezTo>
                  <a:pt x="6379" y="0"/>
                  <a:pt x="0" y="6379"/>
                  <a:pt x="0" y="14249"/>
                </a:cubicBezTo>
                <a:cubicBezTo>
                  <a:pt x="0" y="22118"/>
                  <a:pt x="6379" y="28498"/>
                  <a:pt x="14249" y="28498"/>
                </a:cubicBezTo>
                <a:cubicBezTo>
                  <a:pt x="22118" y="28498"/>
                  <a:pt x="28498" y="22118"/>
                  <a:pt x="28498" y="14249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20" name="Freeform"/>
          <p:cNvSpPr/>
          <p:nvPr/>
        </p:nvSpPr>
        <p:spPr>
          <a:xfrm>
            <a:off x="3499332" y="5296128"/>
            <a:ext cx="28498" cy="28498"/>
          </a:xfrm>
          <a:custGeom>
            <a:avLst/>
            <a:gdLst/>
            <a:pathLst>
              <a:path w="28498" h="28498">
                <a:moveTo>
                  <a:pt x="28498" y="14249"/>
                </a:moveTo>
                <a:cubicBezTo>
                  <a:pt x="28498" y="6379"/>
                  <a:pt x="22118" y="0"/>
                  <a:pt x="14249" y="0"/>
                </a:cubicBezTo>
                <a:cubicBezTo>
                  <a:pt x="6379" y="0"/>
                  <a:pt x="0" y="6379"/>
                  <a:pt x="0" y="14249"/>
                </a:cubicBezTo>
                <a:cubicBezTo>
                  <a:pt x="0" y="22118"/>
                  <a:pt x="6379" y="28498"/>
                  <a:pt x="14249" y="28498"/>
                </a:cubicBezTo>
                <a:cubicBezTo>
                  <a:pt x="22118" y="28498"/>
                  <a:pt x="28498" y="22118"/>
                  <a:pt x="28498" y="14249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21" name="Freeform"/>
          <p:cNvSpPr/>
          <p:nvPr/>
        </p:nvSpPr>
        <p:spPr>
          <a:xfrm>
            <a:off x="2999346" y="5860656"/>
            <a:ext cx="22631" cy="22631"/>
          </a:xfrm>
          <a:custGeom>
            <a:avLst/>
            <a:gdLst/>
            <a:pathLst>
              <a:path w="22631" h="22631">
                <a:moveTo>
                  <a:pt x="22631" y="11315"/>
                </a:moveTo>
                <a:cubicBezTo>
                  <a:pt x="22631" y="5066"/>
                  <a:pt x="17564" y="0"/>
                  <a:pt x="11315" y="0"/>
                </a:cubicBezTo>
                <a:cubicBezTo>
                  <a:pt x="5066" y="0"/>
                  <a:pt x="0" y="5066"/>
                  <a:pt x="0" y="11315"/>
                </a:cubicBezTo>
                <a:cubicBezTo>
                  <a:pt x="0" y="17564"/>
                  <a:pt x="5066" y="22631"/>
                  <a:pt x="11315" y="22631"/>
                </a:cubicBezTo>
                <a:cubicBezTo>
                  <a:pt x="17564" y="22631"/>
                  <a:pt x="22631" y="17564"/>
                  <a:pt x="22631" y="11315"/>
                </a:cubicBezTo>
                <a:close/>
              </a:path>
            </a:pathLst>
          </a:custGeom>
          <a:solidFill>
            <a:srgbClr val="596973"/>
          </a:solidFill>
          <a:ln w="12700">
            <a:noFill/>
          </a:ln>
        </p:spPr>
      </p:sp>
      <p:sp>
        <p:nvSpPr>
          <p:cNvPr id="22" name="Freeform"/>
          <p:cNvSpPr/>
          <p:nvPr/>
        </p:nvSpPr>
        <p:spPr>
          <a:xfrm>
            <a:off x="3217278" y="5860656"/>
            <a:ext cx="22631" cy="22631"/>
          </a:xfrm>
          <a:custGeom>
            <a:avLst/>
            <a:gdLst/>
            <a:pathLst>
              <a:path w="22631" h="22631">
                <a:moveTo>
                  <a:pt x="22631" y="11315"/>
                </a:moveTo>
                <a:cubicBezTo>
                  <a:pt x="22631" y="5066"/>
                  <a:pt x="17564" y="0"/>
                  <a:pt x="11315" y="0"/>
                </a:cubicBezTo>
                <a:cubicBezTo>
                  <a:pt x="5066" y="0"/>
                  <a:pt x="0" y="5066"/>
                  <a:pt x="0" y="11315"/>
                </a:cubicBezTo>
                <a:cubicBezTo>
                  <a:pt x="0" y="17564"/>
                  <a:pt x="5066" y="22631"/>
                  <a:pt x="11315" y="22631"/>
                </a:cubicBezTo>
                <a:cubicBezTo>
                  <a:pt x="17564" y="22631"/>
                  <a:pt x="22631" y="17564"/>
                  <a:pt x="22631" y="11315"/>
                </a:cubicBezTo>
                <a:close/>
              </a:path>
            </a:pathLst>
          </a:custGeom>
          <a:solidFill>
            <a:srgbClr val="596973"/>
          </a:solidFill>
          <a:ln w="12700"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640080" y="6446520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596973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18134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B7C1C2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