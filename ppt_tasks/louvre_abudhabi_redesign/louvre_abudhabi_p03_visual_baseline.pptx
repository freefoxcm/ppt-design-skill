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3017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AEBCC0"/>
                </a:solidFill>
                <a:latin typeface="Arial Narrow"/>
              </a:rPr>
              <a:t>02  /  ENVIRONMENTAL INSTRUMENT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53312"/>
            <a:ext cx="4160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0">
                <a:solidFill>
                  <a:srgbClr val="F6F6F1"/>
                </a:solidFill>
                <a:latin typeface="Georgia"/>
              </a:rPr>
              <a:t>THE DOME
AS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6F6F1"/>
                </a:solidFill>
                <a:latin typeface="Arial Narrow"/>
              </a:rPr>
              <a:t>FOUR OUTER LAYERS OF STAINLESS STEEL
MEET FOUR INNER LAYERS OF ALUMINIUM.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CC0"/>
                </a:solidFill>
                <a:latin typeface="Arial"/>
              </a:rPr>
              <a:t>The geometry filters daylight, shades the plaza,
and turns the roof into a climate device.</a:t>
            </a:r>
          </a:p>
        </p:txBody>
      </p:sp>
      <p:sp>
        <p:nvSpPr>
          <p:cNvPr id="8" name="Freeform"/>
          <p:cNvSpPr/>
          <p:nvPr/>
        </p:nvSpPr>
        <p:spPr>
          <a:xfrm>
            <a:off x="6642481" y="835913"/>
            <a:ext cx="3128517" cy="3156203"/>
          </a:xfrm>
          <a:custGeom>
            <a:avLst/>
            <a:gdLst/>
            <a:pathLst>
              <a:path w="3128517" h="3156203">
                <a:moveTo>
                  <a:pt x="1564258" y="0"/>
                </a:moveTo>
                <a:cubicBezTo>
                  <a:pt x="1564258" y="0"/>
                  <a:pt x="2671698" y="456818"/>
                  <a:pt x="2671698" y="456818"/>
                </a:cubicBezTo>
                <a:cubicBezTo>
                  <a:pt x="2671698" y="456818"/>
                  <a:pt x="3128517" y="1578101"/>
                  <a:pt x="3128517" y="1578101"/>
                </a:cubicBezTo>
                <a:cubicBezTo>
                  <a:pt x="3128517" y="1578101"/>
                  <a:pt x="2671698" y="2699384"/>
                  <a:pt x="2671698" y="2699384"/>
                </a:cubicBezTo>
                <a:cubicBezTo>
                  <a:pt x="2671698" y="2699384"/>
                  <a:pt x="1564258" y="3156203"/>
                  <a:pt x="1564258" y="3156203"/>
                </a:cubicBezTo>
                <a:cubicBezTo>
                  <a:pt x="1564258" y="3156203"/>
                  <a:pt x="456818" y="2699384"/>
                  <a:pt x="456818" y="2699384"/>
                </a:cubicBezTo>
                <a:cubicBezTo>
                  <a:pt x="456818" y="2699384"/>
                  <a:pt x="0" y="1578101"/>
                  <a:pt x="0" y="1578101"/>
                </a:cubicBezTo>
                <a:cubicBezTo>
                  <a:pt x="0" y="1578101"/>
                  <a:pt x="456818" y="456818"/>
                  <a:pt x="456818" y="456818"/>
                </a:cubicBezTo>
                <a:cubicBezTo>
                  <a:pt x="456818" y="456818"/>
                  <a:pt x="1564258" y="0"/>
                  <a:pt x="1564258" y="0"/>
                </a:cubicBezTo>
                <a:close/>
              </a:path>
            </a:pathLst>
          </a:custGeom>
          <a:solidFill>
            <a:srgbClr val="FFFFFF"/>
          </a:solidFill>
          <a:ln w="17780">
            <a:solidFill>
              <a:srgbClr val="6F8991"/>
            </a:solidFill>
          </a:ln>
        </p:spPr>
      </p:sp>
      <p:sp>
        <p:nvSpPr>
          <p:cNvPr id="9" name="Freeform"/>
          <p:cNvSpPr/>
          <p:nvPr/>
        </p:nvSpPr>
        <p:spPr>
          <a:xfrm>
            <a:off x="7002399" y="1181989"/>
            <a:ext cx="2408682" cy="2464054"/>
          </a:xfrm>
          <a:custGeom>
            <a:avLst/>
            <a:gdLst/>
            <a:pathLst>
              <a:path w="2408682" h="2464054">
                <a:moveTo>
                  <a:pt x="1204340" y="0"/>
                </a:moveTo>
                <a:cubicBezTo>
                  <a:pt x="1204340" y="0"/>
                  <a:pt x="2062606" y="359917"/>
                  <a:pt x="2062606" y="359917"/>
                </a:cubicBezTo>
                <a:cubicBezTo>
                  <a:pt x="2062606" y="359917"/>
                  <a:pt x="2408682" y="1232027"/>
                  <a:pt x="2408682" y="1232027"/>
                </a:cubicBezTo>
                <a:cubicBezTo>
                  <a:pt x="2408682" y="1232027"/>
                  <a:pt x="2062606" y="2104136"/>
                  <a:pt x="2062606" y="2104136"/>
                </a:cubicBezTo>
                <a:cubicBezTo>
                  <a:pt x="2062606" y="2104136"/>
                  <a:pt x="1204340" y="2464054"/>
                  <a:pt x="1204340" y="2464054"/>
                </a:cubicBezTo>
                <a:cubicBezTo>
                  <a:pt x="1204340" y="2464054"/>
                  <a:pt x="346074" y="2104136"/>
                  <a:pt x="346074" y="2104136"/>
                </a:cubicBezTo>
                <a:cubicBezTo>
                  <a:pt x="346074" y="2104136"/>
                  <a:pt x="0" y="1232027"/>
                  <a:pt x="0" y="1232027"/>
                </a:cubicBezTo>
                <a:cubicBezTo>
                  <a:pt x="0" y="1232027"/>
                  <a:pt x="346074" y="359917"/>
                  <a:pt x="346074" y="359917"/>
                </a:cubicBezTo>
                <a:cubicBezTo>
                  <a:pt x="346074" y="359917"/>
                  <a:pt x="1204340" y="0"/>
                  <a:pt x="1204340" y="0"/>
                </a:cubicBezTo>
                <a:close/>
              </a:path>
            </a:pathLst>
          </a:custGeom>
          <a:solidFill>
            <a:srgbClr val="FFFFFF"/>
          </a:solidFill>
          <a:ln w="17780">
            <a:solidFill>
              <a:srgbClr val="6F8991"/>
            </a:solidFill>
          </a:ln>
        </p:spPr>
      </p:sp>
      <p:sp>
        <p:nvSpPr>
          <p:cNvPr id="10" name="Freeform"/>
          <p:cNvSpPr/>
          <p:nvPr/>
        </p:nvSpPr>
        <p:spPr>
          <a:xfrm>
            <a:off x="6642481" y="835913"/>
            <a:ext cx="3128517" cy="3156203"/>
          </a:xfrm>
          <a:custGeom>
            <a:avLst/>
            <a:gdLst/>
            <a:pathLst>
              <a:path w="3128517" h="3156203">
                <a:moveTo>
                  <a:pt x="1564258" y="0"/>
                </a:moveTo>
                <a:cubicBezTo>
                  <a:pt x="1564258" y="0"/>
                  <a:pt x="1564258" y="3156203"/>
                  <a:pt x="1564258" y="3156203"/>
                </a:cubicBezTo>
                <a:close/>
                <a:moveTo>
                  <a:pt x="0" y="1578101"/>
                </a:moveTo>
                <a:cubicBezTo>
                  <a:pt x="0" y="1578101"/>
                  <a:pt x="3128517" y="1578101"/>
                  <a:pt x="3128517" y="1578101"/>
                </a:cubicBezTo>
                <a:close/>
                <a:moveTo>
                  <a:pt x="456818" y="456818"/>
                </a:moveTo>
                <a:cubicBezTo>
                  <a:pt x="456818" y="456818"/>
                  <a:pt x="2671698" y="2699384"/>
                  <a:pt x="2671698" y="2699384"/>
                </a:cubicBezTo>
                <a:close/>
                <a:moveTo>
                  <a:pt x="2671698" y="456818"/>
                </a:moveTo>
                <a:cubicBezTo>
                  <a:pt x="2671698" y="456818"/>
                  <a:pt x="456818" y="2699384"/>
                  <a:pt x="456818" y="2699384"/>
                </a:cubicBezTo>
                <a:close/>
              </a:path>
            </a:pathLst>
          </a:custGeom>
          <a:solidFill>
            <a:srgbClr val="FFFFFF"/>
          </a:solidFill>
          <a:ln w="17780">
            <a:solidFill>
              <a:srgbClr val="6F8991"/>
            </a:solidFill>
          </a:ln>
        </p:spPr>
      </p:sp>
      <p:sp>
        <p:nvSpPr>
          <p:cNvPr id="11" name="Freeform"/>
          <p:cNvSpPr/>
          <p:nvPr/>
        </p:nvSpPr>
        <p:spPr>
          <a:xfrm>
            <a:off x="6434836" y="628268"/>
            <a:ext cx="3543807" cy="3571494"/>
          </a:xfrm>
          <a:custGeom>
            <a:avLst/>
            <a:gdLst/>
            <a:pathLst>
              <a:path w="3543807" h="3571494">
                <a:moveTo>
                  <a:pt x="1771903" y="0"/>
                </a:moveTo>
                <a:cubicBezTo>
                  <a:pt x="1771903" y="0"/>
                  <a:pt x="1771903" y="3571494"/>
                  <a:pt x="1771903" y="3571494"/>
                </a:cubicBezTo>
                <a:close/>
                <a:moveTo>
                  <a:pt x="0" y="1785747"/>
                </a:moveTo>
                <a:cubicBezTo>
                  <a:pt x="0" y="1785747"/>
                  <a:pt x="3543807" y="1785747"/>
                  <a:pt x="3543807" y="1785747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18C58"/>
            </a:solidFill>
          </a:ln>
        </p:spPr>
      </p:sp>
      <p:sp>
        <p:nvSpPr>
          <p:cNvPr id="12" name="Freeform"/>
          <p:cNvSpPr/>
          <p:nvPr/>
        </p:nvSpPr>
        <p:spPr>
          <a:xfrm>
            <a:off x="8172132" y="801306"/>
            <a:ext cx="69214" cy="69215"/>
          </a:xfrm>
          <a:custGeom>
            <a:avLst/>
            <a:gdLst/>
            <a:pathLst>
              <a:path w="69214" h="69215">
                <a:moveTo>
                  <a:pt x="69214" y="34607"/>
                </a:moveTo>
                <a:cubicBezTo>
                  <a:pt x="69214" y="15494"/>
                  <a:pt x="53719" y="0"/>
                  <a:pt x="34607" y="0"/>
                </a:cubicBezTo>
                <a:cubicBezTo>
                  <a:pt x="15494" y="0"/>
                  <a:pt x="0" y="15494"/>
                  <a:pt x="0" y="34607"/>
                </a:cubicBezTo>
                <a:cubicBezTo>
                  <a:pt x="0" y="53720"/>
                  <a:pt x="15494" y="69215"/>
                  <a:pt x="34607" y="69215"/>
                </a:cubicBezTo>
                <a:cubicBezTo>
                  <a:pt x="53719" y="69215"/>
                  <a:pt x="69214" y="53720"/>
                  <a:pt x="69214" y="34607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3" name="Freeform"/>
          <p:cNvSpPr/>
          <p:nvPr/>
        </p:nvSpPr>
        <p:spPr>
          <a:xfrm>
            <a:off x="9286494" y="1265047"/>
            <a:ext cx="55372" cy="55371"/>
          </a:xfrm>
          <a:custGeom>
            <a:avLst/>
            <a:gdLst/>
            <a:pathLst>
              <a:path w="55372" h="55371">
                <a:moveTo>
                  <a:pt x="55372" y="27685"/>
                </a:moveTo>
                <a:cubicBezTo>
                  <a:pt x="55372" y="12395"/>
                  <a:pt x="42976" y="0"/>
                  <a:pt x="27686" y="0"/>
                </a:cubicBezTo>
                <a:cubicBezTo>
                  <a:pt x="12395" y="0"/>
                  <a:pt x="0" y="12395"/>
                  <a:pt x="0" y="27685"/>
                </a:cubicBezTo>
                <a:cubicBezTo>
                  <a:pt x="0" y="42975"/>
                  <a:pt x="12395" y="55371"/>
                  <a:pt x="27686" y="55371"/>
                </a:cubicBezTo>
                <a:cubicBezTo>
                  <a:pt x="42976" y="55371"/>
                  <a:pt x="55372" y="42975"/>
                  <a:pt x="55372" y="27685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4" name="Freeform"/>
          <p:cNvSpPr/>
          <p:nvPr/>
        </p:nvSpPr>
        <p:spPr>
          <a:xfrm>
            <a:off x="8172132" y="3957510"/>
            <a:ext cx="69214" cy="69214"/>
          </a:xfrm>
          <a:custGeom>
            <a:avLst/>
            <a:gdLst/>
            <a:pathLst>
              <a:path w="69214" h="69214">
                <a:moveTo>
                  <a:pt x="69214" y="34607"/>
                </a:moveTo>
                <a:cubicBezTo>
                  <a:pt x="69214" y="15494"/>
                  <a:pt x="53719" y="0"/>
                  <a:pt x="34607" y="0"/>
                </a:cubicBezTo>
                <a:cubicBezTo>
                  <a:pt x="15494" y="0"/>
                  <a:pt x="0" y="15494"/>
                  <a:pt x="0" y="34607"/>
                </a:cubicBezTo>
                <a:cubicBezTo>
                  <a:pt x="0" y="53719"/>
                  <a:pt x="15494" y="69214"/>
                  <a:pt x="34607" y="69214"/>
                </a:cubicBezTo>
                <a:cubicBezTo>
                  <a:pt x="53719" y="69214"/>
                  <a:pt x="69214" y="53719"/>
                  <a:pt x="69214" y="34607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5" name="Freeform"/>
          <p:cNvSpPr/>
          <p:nvPr/>
        </p:nvSpPr>
        <p:spPr>
          <a:xfrm>
            <a:off x="6614795" y="2386330"/>
            <a:ext cx="55372" cy="55372"/>
          </a:xfrm>
          <a:custGeom>
            <a:avLst/>
            <a:gdLst/>
            <a:pathLst>
              <a:path w="55372" h="55372">
                <a:moveTo>
                  <a:pt x="55372" y="27686"/>
                </a:moveTo>
                <a:cubicBezTo>
                  <a:pt x="55372" y="12395"/>
                  <a:pt x="42976" y="0"/>
                  <a:pt x="27686" y="0"/>
                </a:cubicBezTo>
                <a:cubicBezTo>
                  <a:pt x="12395" y="0"/>
                  <a:pt x="0" y="12395"/>
                  <a:pt x="0" y="27686"/>
                </a:cubicBezTo>
                <a:cubicBezTo>
                  <a:pt x="0" y="42976"/>
                  <a:pt x="12395" y="55372"/>
                  <a:pt x="27686" y="55372"/>
                </a:cubicBezTo>
                <a:cubicBezTo>
                  <a:pt x="42976" y="55372"/>
                  <a:pt x="55372" y="42976"/>
                  <a:pt x="55372" y="27686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16" name="Freeform"/>
          <p:cNvSpPr/>
          <p:nvPr/>
        </p:nvSpPr>
        <p:spPr>
          <a:xfrm>
            <a:off x="7071614" y="3507613"/>
            <a:ext cx="55371" cy="55371"/>
          </a:xfrm>
          <a:custGeom>
            <a:avLst/>
            <a:gdLst/>
            <a:pathLst>
              <a:path w="55371" h="55371">
                <a:moveTo>
                  <a:pt x="55371" y="27685"/>
                </a:moveTo>
                <a:cubicBezTo>
                  <a:pt x="55371" y="12395"/>
                  <a:pt x="42975" y="0"/>
                  <a:pt x="27685" y="0"/>
                </a:cubicBezTo>
                <a:cubicBezTo>
                  <a:pt x="12395" y="0"/>
                  <a:pt x="0" y="12395"/>
                  <a:pt x="0" y="27685"/>
                </a:cubicBezTo>
                <a:cubicBezTo>
                  <a:pt x="0" y="42975"/>
                  <a:pt x="12395" y="55371"/>
                  <a:pt x="27685" y="55371"/>
                </a:cubicBezTo>
                <a:cubicBezTo>
                  <a:pt x="42975" y="55371"/>
                  <a:pt x="55371" y="42975"/>
                  <a:pt x="55371" y="27685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17" name="Freeform"/>
          <p:cNvSpPr/>
          <p:nvPr/>
        </p:nvSpPr>
        <p:spPr>
          <a:xfrm>
            <a:off x="8179053" y="2386330"/>
            <a:ext cx="55372" cy="55372"/>
          </a:xfrm>
          <a:custGeom>
            <a:avLst/>
            <a:gdLst/>
            <a:pathLst>
              <a:path w="55372" h="55372">
                <a:moveTo>
                  <a:pt x="55372" y="27686"/>
                </a:moveTo>
                <a:cubicBezTo>
                  <a:pt x="55372" y="12395"/>
                  <a:pt x="42976" y="0"/>
                  <a:pt x="27686" y="0"/>
                </a:cubicBezTo>
                <a:cubicBezTo>
                  <a:pt x="12395" y="0"/>
                  <a:pt x="0" y="12395"/>
                  <a:pt x="0" y="27686"/>
                </a:cubicBezTo>
                <a:cubicBezTo>
                  <a:pt x="0" y="42976"/>
                  <a:pt x="12395" y="55372"/>
                  <a:pt x="27686" y="55372"/>
                </a:cubicBezTo>
                <a:cubicBezTo>
                  <a:pt x="42976" y="55372"/>
                  <a:pt x="55372" y="42976"/>
                  <a:pt x="55372" y="27686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6446520" y="4407408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1">
                <a:solidFill>
                  <a:srgbClr val="B18C58"/>
                </a:solidFill>
                <a:latin typeface="Consolas"/>
              </a:rPr>
              <a:t>LAYERED GEOMETRY  /  POROSITY AS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0863072" cy="16459"/>
          </a:xfrm>
          <a:prstGeom prst="rect">
            <a:avLst/>
          </a:prstGeom>
          <a:solidFill>
            <a:srgbClr val="6E81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57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6F6F1"/>
                </a:solidFill>
                <a:latin typeface="Arial"/>
              </a:rPr>
              <a:t>7,850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32704"/>
            <a:ext cx="2377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18C58"/>
                </a:solidFill>
                <a:latin typeface="Arial Narrow"/>
              </a:rPr>
              <a:t>STARS IN THE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8873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EBCC0"/>
                </a:solidFill>
                <a:latin typeface="Arial"/>
              </a:rPr>
              <a:t>repeated apertures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5157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6F6F1"/>
                </a:solidFill>
                <a:latin typeface="Arial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632704"/>
            <a:ext cx="2377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18C58"/>
                </a:solidFill>
                <a:latin typeface="Arial Narrow"/>
              </a:rPr>
              <a:t>OVERLAPPING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588873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EBCC0"/>
                </a:solidFill>
                <a:latin typeface="Arial"/>
              </a:rPr>
              <a:t>steel + aluminium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157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6F6F1"/>
                </a:solidFill>
                <a:latin typeface="Arial"/>
              </a:rPr>
              <a:t>180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632704"/>
            <a:ext cx="2377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18C58"/>
                </a:solidFill>
                <a:latin typeface="Arial Narrow"/>
              </a:rPr>
              <a:t>DOME DIAMETER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88873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EBCC0"/>
                </a:solidFill>
                <a:latin typeface="Arial"/>
              </a:rPr>
              <a:t>museum-city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AEBCC0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6E8187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