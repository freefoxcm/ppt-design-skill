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676656" cy="21031"/>
          </a:xfrm>
          <a:prstGeom prst="rect">
            <a:avLst/>
          </a:prstGeom>
          <a:solidFill>
            <a:srgbClr val="B18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2697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586A73"/>
                </a:solidFill>
                <a:latin typeface="Arial Narrow"/>
              </a:rPr>
              <a:t>05  /  THERMAL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98448"/>
            <a:ext cx="374903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16252D"/>
                </a:solidFill>
                <a:latin typeface="Georgia"/>
              </a:rPr>
              <a:t>SHADE
BECOMES
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35808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252D"/>
                </a:solidFill>
                <a:latin typeface="Arial"/>
              </a:rPr>
              <a:t>The canopy filters daylight, reduces heat,
and protects the public realm below.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58768"/>
            <a:ext cx="3401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A73"/>
                </a:solidFill>
                <a:latin typeface="Arial"/>
              </a:rPr>
              <a:t>Natural cooling is not an add-on.
It is the spatial idea of the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6592" y="786384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18C58"/>
                </a:solidFill>
                <a:latin typeface="Consolas"/>
              </a:rPr>
              <a:t>FROM SOLAR LOAD TO PUBLIC COMFORT</a:t>
            </a:r>
          </a:p>
        </p:txBody>
      </p:sp>
      <p:sp>
        <p:nvSpPr>
          <p:cNvPr id="9" name="Freeform"/>
          <p:cNvSpPr/>
          <p:nvPr/>
        </p:nvSpPr>
        <p:spPr>
          <a:xfrm>
            <a:off x="5788805" y="1448017"/>
            <a:ext cx="3930613" cy="3468188"/>
          </a:xfrm>
          <a:custGeom>
            <a:avLst/>
            <a:gdLst/>
            <a:pathLst>
              <a:path w="3930613" h="3468188">
                <a:moveTo>
                  <a:pt x="1965306" y="0"/>
                </a:moveTo>
                <a:cubicBezTo>
                  <a:pt x="1965306" y="0"/>
                  <a:pt x="3352581" y="578031"/>
                  <a:pt x="3352581" y="578031"/>
                </a:cubicBezTo>
                <a:cubicBezTo>
                  <a:pt x="3352581" y="578031"/>
                  <a:pt x="3930613" y="1734094"/>
                  <a:pt x="3930613" y="1734094"/>
                </a:cubicBezTo>
                <a:cubicBezTo>
                  <a:pt x="3930613" y="1734094"/>
                  <a:pt x="3352581" y="2890156"/>
                  <a:pt x="3352581" y="2890156"/>
                </a:cubicBezTo>
                <a:cubicBezTo>
                  <a:pt x="3352581" y="2890156"/>
                  <a:pt x="1965306" y="3468188"/>
                  <a:pt x="1965306" y="3468188"/>
                </a:cubicBezTo>
                <a:cubicBezTo>
                  <a:pt x="1965306" y="3468188"/>
                  <a:pt x="578031" y="2890156"/>
                  <a:pt x="578031" y="2890156"/>
                </a:cubicBezTo>
                <a:cubicBezTo>
                  <a:pt x="578031" y="2890156"/>
                  <a:pt x="0" y="1734094"/>
                  <a:pt x="0" y="1734094"/>
                </a:cubicBezTo>
                <a:cubicBezTo>
                  <a:pt x="0" y="1734094"/>
                  <a:pt x="578031" y="578031"/>
                  <a:pt x="578031" y="578031"/>
                </a:cubicBezTo>
                <a:cubicBezTo>
                  <a:pt x="578031" y="578031"/>
                  <a:pt x="1965306" y="0"/>
                  <a:pt x="1965306" y="0"/>
                </a:cubicBez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0" name="Freeform"/>
          <p:cNvSpPr/>
          <p:nvPr/>
        </p:nvSpPr>
        <p:spPr>
          <a:xfrm>
            <a:off x="6174159" y="1833372"/>
            <a:ext cx="3159905" cy="2697480"/>
          </a:xfrm>
          <a:custGeom>
            <a:avLst/>
            <a:gdLst/>
            <a:pathLst>
              <a:path w="3159905" h="2697480">
                <a:moveTo>
                  <a:pt x="1579952" y="0"/>
                </a:moveTo>
                <a:cubicBezTo>
                  <a:pt x="1579952" y="0"/>
                  <a:pt x="2697479" y="462425"/>
                  <a:pt x="2697479" y="462425"/>
                </a:cubicBezTo>
                <a:cubicBezTo>
                  <a:pt x="2697479" y="462425"/>
                  <a:pt x="3159905" y="1348740"/>
                  <a:pt x="3159905" y="1348740"/>
                </a:cubicBezTo>
                <a:cubicBezTo>
                  <a:pt x="3159905" y="1348740"/>
                  <a:pt x="2697479" y="2235054"/>
                  <a:pt x="2697479" y="2235054"/>
                </a:cubicBezTo>
                <a:cubicBezTo>
                  <a:pt x="2697479" y="2235054"/>
                  <a:pt x="1579952" y="2697480"/>
                  <a:pt x="1579952" y="2697480"/>
                </a:cubicBezTo>
                <a:cubicBezTo>
                  <a:pt x="1579952" y="2697480"/>
                  <a:pt x="462425" y="2235054"/>
                  <a:pt x="462425" y="2235054"/>
                </a:cubicBezTo>
                <a:cubicBezTo>
                  <a:pt x="462425" y="2235054"/>
                  <a:pt x="0" y="1348740"/>
                  <a:pt x="0" y="1348740"/>
                </a:cubicBezTo>
                <a:cubicBezTo>
                  <a:pt x="0" y="1348740"/>
                  <a:pt x="462425" y="462425"/>
                  <a:pt x="462425" y="462425"/>
                </a:cubicBezTo>
                <a:cubicBezTo>
                  <a:pt x="462425" y="462425"/>
                  <a:pt x="1579952" y="0"/>
                  <a:pt x="1579952" y="0"/>
                </a:cubicBez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1" name="Freeform"/>
          <p:cNvSpPr/>
          <p:nvPr/>
        </p:nvSpPr>
        <p:spPr>
          <a:xfrm>
            <a:off x="5788805" y="1448017"/>
            <a:ext cx="3930613" cy="3468188"/>
          </a:xfrm>
          <a:custGeom>
            <a:avLst/>
            <a:gdLst/>
            <a:pathLst>
              <a:path w="3930613" h="3468188">
                <a:moveTo>
                  <a:pt x="1965306" y="0"/>
                </a:moveTo>
                <a:cubicBezTo>
                  <a:pt x="1965306" y="0"/>
                  <a:pt x="1965306" y="3468188"/>
                  <a:pt x="1965306" y="3468188"/>
                </a:cubicBezTo>
                <a:close/>
                <a:moveTo>
                  <a:pt x="0" y="1734094"/>
                </a:moveTo>
                <a:cubicBezTo>
                  <a:pt x="0" y="1734094"/>
                  <a:pt x="3930613" y="1734094"/>
                  <a:pt x="3930613" y="1734094"/>
                </a:cubicBezTo>
                <a:close/>
              </a:path>
            </a:pathLst>
          </a:custGeom>
          <a:solidFill>
            <a:srgbClr val="FFFFFF"/>
          </a:solidFill>
          <a:ln w="15240">
            <a:solidFill>
              <a:srgbClr val="7D9499"/>
            </a:solidFill>
          </a:ln>
        </p:spPr>
      </p:sp>
      <p:sp>
        <p:nvSpPr>
          <p:cNvPr id="12" name="Freeform"/>
          <p:cNvSpPr/>
          <p:nvPr/>
        </p:nvSpPr>
        <p:spPr>
          <a:xfrm>
            <a:off x="5472814" y="1039542"/>
            <a:ext cx="4562594" cy="4146412"/>
          </a:xfrm>
          <a:custGeom>
            <a:avLst/>
            <a:gdLst/>
            <a:pathLst>
              <a:path w="4562594" h="4146412">
                <a:moveTo>
                  <a:pt x="2281297" y="0"/>
                </a:moveTo>
                <a:cubicBezTo>
                  <a:pt x="2281297" y="0"/>
                  <a:pt x="2281297" y="4146412"/>
                  <a:pt x="2281297" y="4146412"/>
                </a:cubicBezTo>
                <a:close/>
                <a:moveTo>
                  <a:pt x="0" y="2142569"/>
                </a:moveTo>
                <a:cubicBezTo>
                  <a:pt x="0" y="2142569"/>
                  <a:pt x="4562594" y="2142569"/>
                  <a:pt x="4562594" y="2142569"/>
                </a:cubicBezTo>
                <a:close/>
              </a:path>
            </a:pathLst>
          </a:custGeom>
          <a:solidFill>
            <a:srgbClr val="FFFFFF"/>
          </a:solidFill>
          <a:ln w="14604">
            <a:solidFill>
              <a:srgbClr val="B18C58"/>
            </a:solidFill>
          </a:ln>
        </p:spPr>
      </p:sp>
      <p:sp>
        <p:nvSpPr>
          <p:cNvPr id="13" name="Freeform"/>
          <p:cNvSpPr/>
          <p:nvPr/>
        </p:nvSpPr>
        <p:spPr>
          <a:xfrm>
            <a:off x="7715576" y="1409482"/>
            <a:ext cx="77070" cy="77070"/>
          </a:xfrm>
          <a:custGeom>
            <a:avLst/>
            <a:gdLst/>
            <a:pathLst>
              <a:path w="77070" h="77070">
                <a:moveTo>
                  <a:pt x="77070" y="38535"/>
                </a:moveTo>
                <a:cubicBezTo>
                  <a:pt x="77070" y="17252"/>
                  <a:pt x="59817" y="0"/>
                  <a:pt x="38535" y="0"/>
                </a:cubicBezTo>
                <a:cubicBezTo>
                  <a:pt x="17252" y="0"/>
                  <a:pt x="0" y="17252"/>
                  <a:pt x="0" y="38535"/>
                </a:cubicBezTo>
                <a:cubicBezTo>
                  <a:pt x="0" y="59817"/>
                  <a:pt x="17252" y="77070"/>
                  <a:pt x="38535" y="77070"/>
                </a:cubicBezTo>
                <a:cubicBezTo>
                  <a:pt x="59817" y="77070"/>
                  <a:pt x="77070" y="59817"/>
                  <a:pt x="77070" y="38535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4" name="Freeform"/>
          <p:cNvSpPr/>
          <p:nvPr/>
        </p:nvSpPr>
        <p:spPr>
          <a:xfrm>
            <a:off x="9688590" y="3151283"/>
            <a:ext cx="61656" cy="61656"/>
          </a:xfrm>
          <a:custGeom>
            <a:avLst/>
            <a:gdLst/>
            <a:pathLst>
              <a:path w="61656" h="61656">
                <a:moveTo>
                  <a:pt x="61656" y="30828"/>
                </a:moveTo>
                <a:cubicBezTo>
                  <a:pt x="61656" y="13802"/>
                  <a:pt x="47853" y="0"/>
                  <a:pt x="30828" y="0"/>
                </a:cubicBezTo>
                <a:cubicBezTo>
                  <a:pt x="13802" y="0"/>
                  <a:pt x="0" y="13802"/>
                  <a:pt x="0" y="30828"/>
                </a:cubicBezTo>
                <a:cubicBezTo>
                  <a:pt x="0" y="47853"/>
                  <a:pt x="13802" y="61656"/>
                  <a:pt x="30828" y="61656"/>
                </a:cubicBezTo>
                <a:cubicBezTo>
                  <a:pt x="47853" y="61656"/>
                  <a:pt x="61656" y="47853"/>
                  <a:pt x="61656" y="30828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5" name="Freeform"/>
          <p:cNvSpPr/>
          <p:nvPr/>
        </p:nvSpPr>
        <p:spPr>
          <a:xfrm>
            <a:off x="7715576" y="4877670"/>
            <a:ext cx="77070" cy="77070"/>
          </a:xfrm>
          <a:custGeom>
            <a:avLst/>
            <a:gdLst/>
            <a:pathLst>
              <a:path w="77070" h="77070">
                <a:moveTo>
                  <a:pt x="77070" y="38535"/>
                </a:moveTo>
                <a:cubicBezTo>
                  <a:pt x="77070" y="17252"/>
                  <a:pt x="59817" y="0"/>
                  <a:pt x="38535" y="0"/>
                </a:cubicBezTo>
                <a:cubicBezTo>
                  <a:pt x="17252" y="0"/>
                  <a:pt x="0" y="17252"/>
                  <a:pt x="0" y="38535"/>
                </a:cubicBezTo>
                <a:cubicBezTo>
                  <a:pt x="0" y="59817"/>
                  <a:pt x="17252" y="77070"/>
                  <a:pt x="38535" y="77070"/>
                </a:cubicBezTo>
                <a:cubicBezTo>
                  <a:pt x="59817" y="77070"/>
                  <a:pt x="77070" y="59817"/>
                  <a:pt x="77070" y="38535"/>
                </a:cubicBezTo>
                <a:close/>
              </a:path>
            </a:pathLst>
          </a:custGeom>
          <a:solidFill>
            <a:srgbClr val="B18C58"/>
          </a:solidFill>
          <a:ln w="12700">
            <a:noFill/>
          </a:ln>
        </p:spPr>
      </p:sp>
      <p:sp>
        <p:nvSpPr>
          <p:cNvPr id="16" name="Freeform"/>
          <p:cNvSpPr/>
          <p:nvPr/>
        </p:nvSpPr>
        <p:spPr>
          <a:xfrm>
            <a:off x="5757976" y="3151283"/>
            <a:ext cx="61656" cy="61656"/>
          </a:xfrm>
          <a:custGeom>
            <a:avLst/>
            <a:gdLst/>
            <a:pathLst>
              <a:path w="61656" h="61656">
                <a:moveTo>
                  <a:pt x="61656" y="30828"/>
                </a:moveTo>
                <a:cubicBezTo>
                  <a:pt x="61656" y="13802"/>
                  <a:pt x="47853" y="0"/>
                  <a:pt x="30828" y="0"/>
                </a:cubicBezTo>
                <a:cubicBezTo>
                  <a:pt x="13802" y="0"/>
                  <a:pt x="0" y="13802"/>
                  <a:pt x="0" y="30828"/>
                </a:cubicBezTo>
                <a:cubicBezTo>
                  <a:pt x="0" y="47853"/>
                  <a:pt x="13802" y="61656"/>
                  <a:pt x="30828" y="61656"/>
                </a:cubicBezTo>
                <a:cubicBezTo>
                  <a:pt x="47853" y="61656"/>
                  <a:pt x="61656" y="47853"/>
                  <a:pt x="61656" y="30828"/>
                </a:cubicBezTo>
                <a:close/>
              </a:path>
            </a:pathLst>
          </a:custGeom>
          <a:solidFill>
            <a:srgbClr val="7D9499"/>
          </a:solidFill>
          <a:ln w="12700">
            <a:noFill/>
          </a:ln>
        </p:spPr>
      </p:sp>
      <p:sp>
        <p:nvSpPr>
          <p:cNvPr id="17" name="Freeform"/>
          <p:cNvSpPr/>
          <p:nvPr/>
        </p:nvSpPr>
        <p:spPr>
          <a:xfrm>
            <a:off x="7723283" y="3151283"/>
            <a:ext cx="61656" cy="61656"/>
          </a:xfrm>
          <a:custGeom>
            <a:avLst/>
            <a:gdLst/>
            <a:pathLst>
              <a:path w="61656" h="61656">
                <a:moveTo>
                  <a:pt x="61656" y="30828"/>
                </a:moveTo>
                <a:cubicBezTo>
                  <a:pt x="61656" y="13802"/>
                  <a:pt x="47853" y="0"/>
                  <a:pt x="30828" y="0"/>
                </a:cubicBezTo>
                <a:cubicBezTo>
                  <a:pt x="13802" y="0"/>
                  <a:pt x="0" y="13802"/>
                  <a:pt x="0" y="30828"/>
                </a:cubicBezTo>
                <a:cubicBezTo>
                  <a:pt x="0" y="47853"/>
                  <a:pt x="13802" y="61656"/>
                  <a:pt x="30828" y="61656"/>
                </a:cubicBezTo>
                <a:cubicBezTo>
                  <a:pt x="47853" y="61656"/>
                  <a:pt x="61656" y="47853"/>
                  <a:pt x="61656" y="30828"/>
                </a:cubicBezTo>
                <a:close/>
              </a:path>
            </a:pathLst>
          </a:custGeom>
          <a:solidFill>
            <a:srgbClr val="7D9499"/>
          </a:solidFill>
          <a:ln w="12700">
            <a:noFill/>
          </a:ln>
        </p:spPr>
      </p:sp>
      <p:sp>
        <p:nvSpPr>
          <p:cNvPr id="18" name="Freeform"/>
          <p:cNvSpPr/>
          <p:nvPr/>
        </p:nvSpPr>
        <p:spPr>
          <a:xfrm>
            <a:off x="8848518" y="2272675"/>
            <a:ext cx="46242" cy="46242"/>
          </a:xfrm>
          <a:custGeom>
            <a:avLst/>
            <a:gdLst/>
            <a:pathLst>
              <a:path w="46242" h="46242">
                <a:moveTo>
                  <a:pt x="46242" y="23121"/>
                </a:moveTo>
                <a:cubicBezTo>
                  <a:pt x="46242" y="10351"/>
                  <a:pt x="35890" y="0"/>
                  <a:pt x="23121" y="0"/>
                </a:cubicBezTo>
                <a:cubicBezTo>
                  <a:pt x="10351" y="0"/>
                  <a:pt x="0" y="10351"/>
                  <a:pt x="0" y="23121"/>
                </a:cubicBezTo>
                <a:cubicBezTo>
                  <a:pt x="0" y="35890"/>
                  <a:pt x="10351" y="46242"/>
                  <a:pt x="23121" y="46242"/>
                </a:cubicBezTo>
                <a:cubicBezTo>
                  <a:pt x="35890" y="46242"/>
                  <a:pt x="46242" y="35890"/>
                  <a:pt x="46242" y="23121"/>
                </a:cubicBezTo>
                <a:close/>
              </a:path>
            </a:pathLst>
          </a:custGeom>
          <a:solidFill>
            <a:srgbClr val="7D9499"/>
          </a:solidFill>
          <a:ln w="12700"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705856" y="5084064"/>
            <a:ext cx="40416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0" b="1">
                <a:solidFill>
                  <a:srgbClr val="586A73"/>
                </a:solidFill>
                <a:latin typeface="Arial Narrow"/>
              </a:rPr>
              <a:t>OVERLAPPING GEOMETRY  /  FILTERED 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13248"/>
            <a:ext cx="10881360" cy="16459"/>
          </a:xfrm>
          <a:prstGeom prst="rect">
            <a:avLst/>
          </a:prstGeom>
          <a:solidFill>
            <a:srgbClr val="B7C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96128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18C58"/>
                </a:solidFill>
                <a:latin typeface="Consola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5568696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6252D"/>
                </a:solidFill>
                <a:latin typeface="Arial Narrow"/>
              </a:rPr>
              <a:t>SHADE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5815584"/>
            <a:ext cx="2029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86A73"/>
                </a:solidFill>
                <a:latin typeface="Arial"/>
              </a:rPr>
              <a:t>block direct solar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596128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18C58"/>
                </a:solidFill>
                <a:latin typeface="Consola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9624" y="5568696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6252D"/>
                </a:solidFill>
                <a:latin typeface="Arial Narrow"/>
              </a:rPr>
              <a:t>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9624" y="5815584"/>
            <a:ext cx="2029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86A73"/>
                </a:solidFill>
                <a:latin typeface="Arial"/>
              </a:rPr>
              <a:t>break light into layers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596128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18C58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5568696"/>
            <a:ext cx="1280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16252D"/>
                </a:solidFill>
                <a:latin typeface="Arial Narrow"/>
              </a:rPr>
              <a:t>SOFTEN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5815584"/>
            <a:ext cx="2029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86A73"/>
                </a:solidFill>
                <a:latin typeface="Arial"/>
              </a:rPr>
              <a:t>make the plaza inhabitable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596128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6252D"/>
                </a:solidFill>
                <a:latin typeface="Arial"/>
              </a:rPr>
              <a:t>36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566928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>
                <a:solidFill>
                  <a:srgbClr val="586A73"/>
                </a:solidFill>
                <a:latin typeface="Arial Narrow"/>
              </a:rPr>
              <a:t>ABOVE GROUND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" b="1">
                <a:solidFill>
                  <a:srgbClr val="586A73"/>
                </a:solidFill>
                <a:latin typeface="Arial Narrow"/>
              </a:rPr>
              <a:t>SOURCE  /  LOUVRE ABU DHABI —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91088" y="618134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0">
                <a:solidFill>
                  <a:srgbClr val="8EA0A2"/>
                </a:solidFill>
                <a:latin typeface="Georgia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