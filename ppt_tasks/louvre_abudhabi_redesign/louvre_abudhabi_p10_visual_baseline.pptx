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4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48640"/>
            <a:ext cx="676656" cy="21031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2286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B3C1C4"/>
                </a:solidFill>
                <a:latin typeface="Arial Narrow"/>
              </a:rPr>
              <a:t>09  /  CODA</a:t>
            </a:r>
          </a:p>
        </p:txBody>
      </p:sp>
      <p:pic>
        <p:nvPicPr>
          <p:cNvPr id="5" name="Picture 4" descr="1f348ad6f5e2e40d8b3a629c1663d9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353312"/>
            <a:ext cx="6784848" cy="38221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3504" y="5468112"/>
            <a:ext cx="6784848" cy="20116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3200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>
                <a:solidFill>
                  <a:srgbClr val="B3C1C4"/>
                </a:solidFill>
                <a:latin typeface="Arial Narrow"/>
              </a:rPr>
              <a:t>LOUVRE ABU DHABI  /  SAADIYAT ISLAND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1426464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0">
                <a:solidFill>
                  <a:srgbClr val="F6F6F1"/>
                </a:solidFill>
                <a:latin typeface="Georgia"/>
              </a:rPr>
              <a:t>LIGHT.
WATER.
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3456432"/>
            <a:ext cx="3054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C1C4"/>
                </a:solidFill>
                <a:latin typeface="Arial"/>
              </a:rPr>
              <a:t>A common sky turns architecture
into a public cultural landscape.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0144" y="4352544"/>
            <a:ext cx="3218688" cy="16459"/>
          </a:xfrm>
          <a:prstGeom prst="rect">
            <a:avLst/>
          </a:prstGeom>
          <a:solidFill>
            <a:srgbClr val="4963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0144" y="459028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18C58"/>
                </a:solidFill>
                <a:latin typeface="Consolas"/>
              </a:rPr>
              <a:t>THE CASE CLOSES ON A RELATIONSHIP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4956048"/>
            <a:ext cx="29443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6F6F1"/>
                </a:solidFill>
                <a:latin typeface="Arial"/>
              </a:rPr>
              <a:t>A landmark becomes civic when its
light, water and paths remain shared.</a:t>
            </a:r>
          </a:p>
        </p:txBody>
      </p:sp>
      <p:sp>
        <p:nvSpPr>
          <p:cNvPr id="13" name="Freeform"/>
          <p:cNvSpPr/>
          <p:nvPr/>
        </p:nvSpPr>
        <p:spPr>
          <a:xfrm>
            <a:off x="8315474" y="5600421"/>
            <a:ext cx="2461723" cy="506021"/>
          </a:xfrm>
          <a:custGeom>
            <a:avLst/>
            <a:gdLst/>
            <a:pathLst>
              <a:path w="2461723" h="506021">
                <a:moveTo>
                  <a:pt x="0" y="0"/>
                </a:moveTo>
                <a:cubicBezTo>
                  <a:pt x="0" y="0"/>
                  <a:pt x="2461723" y="0"/>
                  <a:pt x="2461723" y="0"/>
                </a:cubicBezTo>
                <a:close/>
                <a:moveTo>
                  <a:pt x="307715" y="253010"/>
                </a:moveTo>
                <a:cubicBezTo>
                  <a:pt x="307715" y="253010"/>
                  <a:pt x="2154007" y="253010"/>
                  <a:pt x="2154007" y="253010"/>
                </a:cubicBezTo>
                <a:close/>
                <a:moveTo>
                  <a:pt x="615430" y="506021"/>
                </a:moveTo>
                <a:cubicBezTo>
                  <a:pt x="615430" y="506021"/>
                  <a:pt x="1846292" y="506021"/>
                  <a:pt x="1846292" y="506021"/>
                </a:cubicBezTo>
                <a:close/>
              </a:path>
            </a:pathLst>
          </a:custGeom>
          <a:solidFill>
            <a:srgbClr val="FFFFFF"/>
          </a:solidFill>
          <a:ln w="14604">
            <a:solidFill>
              <a:srgbClr val="6D858D"/>
            </a:solidFill>
          </a:ln>
        </p:spPr>
      </p:sp>
      <p:sp>
        <p:nvSpPr>
          <p:cNvPr id="14" name="Freeform"/>
          <p:cNvSpPr/>
          <p:nvPr/>
        </p:nvSpPr>
        <p:spPr>
          <a:xfrm>
            <a:off x="8315474" y="5600421"/>
            <a:ext cx="2461723" cy="635945"/>
          </a:xfrm>
          <a:custGeom>
            <a:avLst/>
            <a:gdLst/>
            <a:pathLst>
              <a:path w="2461723" h="635945">
                <a:moveTo>
                  <a:pt x="0" y="0"/>
                </a:moveTo>
                <a:cubicBezTo>
                  <a:pt x="0" y="0"/>
                  <a:pt x="615430" y="635945"/>
                  <a:pt x="615430" y="635945"/>
                </a:cubicBezTo>
                <a:close/>
                <a:moveTo>
                  <a:pt x="2461723" y="0"/>
                </a:moveTo>
                <a:cubicBezTo>
                  <a:pt x="2461723" y="0"/>
                  <a:pt x="1846292" y="635945"/>
                  <a:pt x="1846292" y="635945"/>
                </a:cubicBezTo>
                <a:close/>
              </a:path>
            </a:pathLst>
          </a:custGeom>
          <a:solidFill>
            <a:srgbClr val="FFFFFF"/>
          </a:solidFill>
          <a:ln w="13970">
            <a:solidFill>
              <a:srgbClr val="B18C58"/>
            </a:solidFill>
          </a:ln>
        </p:spPr>
      </p:sp>
      <p:sp>
        <p:nvSpPr>
          <p:cNvPr id="15" name="Freeform"/>
          <p:cNvSpPr/>
          <p:nvPr/>
        </p:nvSpPr>
        <p:spPr>
          <a:xfrm>
            <a:off x="8301797" y="5586745"/>
            <a:ext cx="27352" cy="27352"/>
          </a:xfrm>
          <a:custGeom>
            <a:avLst/>
            <a:gdLst/>
            <a:pathLst>
              <a:path w="27352" h="27352">
                <a:moveTo>
                  <a:pt x="27352" y="13675"/>
                </a:moveTo>
                <a:cubicBezTo>
                  <a:pt x="27352" y="6122"/>
                  <a:pt x="21229" y="0"/>
                  <a:pt x="13676" y="0"/>
                </a:cubicBezTo>
                <a:cubicBezTo>
                  <a:pt x="6122" y="0"/>
                  <a:pt x="0" y="6122"/>
                  <a:pt x="0" y="13675"/>
                </a:cubicBezTo>
                <a:cubicBezTo>
                  <a:pt x="0" y="21229"/>
                  <a:pt x="6122" y="27352"/>
                  <a:pt x="13676" y="27352"/>
                </a:cubicBezTo>
                <a:cubicBezTo>
                  <a:pt x="21229" y="27352"/>
                  <a:pt x="27352" y="21229"/>
                  <a:pt x="27352" y="13675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6" name="Freeform"/>
          <p:cNvSpPr/>
          <p:nvPr/>
        </p:nvSpPr>
        <p:spPr>
          <a:xfrm>
            <a:off x="10763521" y="5586745"/>
            <a:ext cx="27352" cy="27352"/>
          </a:xfrm>
          <a:custGeom>
            <a:avLst/>
            <a:gdLst/>
            <a:pathLst>
              <a:path w="27352" h="27352">
                <a:moveTo>
                  <a:pt x="27352" y="13675"/>
                </a:moveTo>
                <a:cubicBezTo>
                  <a:pt x="27352" y="6122"/>
                  <a:pt x="21229" y="0"/>
                  <a:pt x="13676" y="0"/>
                </a:cubicBezTo>
                <a:cubicBezTo>
                  <a:pt x="6122" y="0"/>
                  <a:pt x="0" y="6122"/>
                  <a:pt x="0" y="13675"/>
                </a:cubicBezTo>
                <a:cubicBezTo>
                  <a:pt x="0" y="21229"/>
                  <a:pt x="6122" y="27352"/>
                  <a:pt x="13676" y="27352"/>
                </a:cubicBezTo>
                <a:cubicBezTo>
                  <a:pt x="21229" y="27352"/>
                  <a:pt x="27352" y="21229"/>
                  <a:pt x="27352" y="13675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7" name="Freeform"/>
          <p:cNvSpPr/>
          <p:nvPr/>
        </p:nvSpPr>
        <p:spPr>
          <a:xfrm>
            <a:off x="8920647" y="6226109"/>
            <a:ext cx="20514" cy="20514"/>
          </a:xfrm>
          <a:custGeom>
            <a:avLst/>
            <a:gdLst/>
            <a:pathLst>
              <a:path w="20514" h="20514">
                <a:moveTo>
                  <a:pt x="20514" y="10257"/>
                </a:moveTo>
                <a:cubicBezTo>
                  <a:pt x="20514" y="4592"/>
                  <a:pt x="15921" y="0"/>
                  <a:pt x="10257" y="0"/>
                </a:cubicBezTo>
                <a:cubicBezTo>
                  <a:pt x="4592" y="0"/>
                  <a:pt x="0" y="4592"/>
                  <a:pt x="0" y="10257"/>
                </a:cubicBezTo>
                <a:cubicBezTo>
                  <a:pt x="0" y="15921"/>
                  <a:pt x="4592" y="20514"/>
                  <a:pt x="10257" y="20514"/>
                </a:cubicBezTo>
                <a:cubicBezTo>
                  <a:pt x="15921" y="20514"/>
                  <a:pt x="20514" y="15921"/>
                  <a:pt x="20514" y="10257"/>
                </a:cubicBezTo>
                <a:close/>
              </a:path>
            </a:pathLst>
          </a:custGeom>
          <a:solidFill>
            <a:srgbClr val="6D858D"/>
          </a:solidFill>
          <a:ln w="12700">
            <a:noFill/>
          </a:ln>
        </p:spPr>
      </p:sp>
      <p:sp>
        <p:nvSpPr>
          <p:cNvPr id="18" name="Freeform"/>
          <p:cNvSpPr/>
          <p:nvPr/>
        </p:nvSpPr>
        <p:spPr>
          <a:xfrm>
            <a:off x="10151509" y="6226109"/>
            <a:ext cx="20514" cy="20514"/>
          </a:xfrm>
          <a:custGeom>
            <a:avLst/>
            <a:gdLst/>
            <a:pathLst>
              <a:path w="20514" h="20514">
                <a:moveTo>
                  <a:pt x="20514" y="10257"/>
                </a:moveTo>
                <a:cubicBezTo>
                  <a:pt x="20514" y="4592"/>
                  <a:pt x="15921" y="0"/>
                  <a:pt x="10257" y="0"/>
                </a:cubicBezTo>
                <a:cubicBezTo>
                  <a:pt x="4592" y="0"/>
                  <a:pt x="0" y="4592"/>
                  <a:pt x="0" y="10257"/>
                </a:cubicBezTo>
                <a:cubicBezTo>
                  <a:pt x="0" y="15921"/>
                  <a:pt x="4592" y="20514"/>
                  <a:pt x="10257" y="20514"/>
                </a:cubicBezTo>
                <a:cubicBezTo>
                  <a:pt x="15921" y="20514"/>
                  <a:pt x="20514" y="15921"/>
                  <a:pt x="20514" y="10257"/>
                </a:cubicBezTo>
                <a:close/>
              </a:path>
            </a:pathLst>
          </a:custGeom>
          <a:solidFill>
            <a:srgbClr val="6D858D"/>
          </a:solidFill>
          <a:ln w="12700"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640080" y="6446520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B3C1C4"/>
                </a:solidFill>
                <a:latin typeface="Arial Narrow"/>
              </a:rPr>
              <a:t>SOURCE  /  LOUVRE ABU DHABI —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181344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0">
                <a:solidFill>
                  <a:srgbClr val="6E8187"/>
                </a:solidFill>
                <a:latin typeface="Georgia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