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3e7a688373abf5299f922f956d75e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12064"/>
            <a:ext cx="4041648" cy="58338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82896" y="512064"/>
            <a:ext cx="21945" cy="5833872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1808" y="640080"/>
            <a:ext cx="2103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596973"/>
                </a:solidFill>
                <a:latin typeface="Arial Narrow"/>
              </a:rPr>
              <a:t>04  /  CIVIC INTERIOR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21808" y="1051560"/>
            <a:ext cx="658368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1808" y="1353312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15232D"/>
                </a:solidFill>
                <a:latin typeface="Georgia"/>
              </a:rPr>
              <a:t>WATER
AS PUBLIC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8384" y="2670048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32D"/>
                </a:solidFill>
                <a:latin typeface="Arial"/>
              </a:rPr>
              <a:t>Paths cross the water beneath the dome,
turning the museum into a walkable urban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456432"/>
            <a:ext cx="4864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973"/>
                </a:solidFill>
                <a:latin typeface="Arial"/>
              </a:rPr>
              <a:t>The visitor does not move around a single object.
The visitor moves through a sequence of thresholds.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58384" y="4279392"/>
            <a:ext cx="5230368" cy="16459"/>
          </a:xfrm>
          <a:prstGeom prst="rect">
            <a:avLst/>
          </a:prstGeom>
          <a:solidFill>
            <a:srgbClr val="A3AF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451713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18C5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44897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5232D"/>
                </a:solidFill>
                <a:latin typeface="Arial Narrow"/>
              </a:rPr>
              <a:t>ARRIVAL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75488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6973"/>
                </a:solidFill>
                <a:latin typeface="Arial"/>
              </a:rPr>
              <a:t>land → water →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451713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18C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48970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5232D"/>
                </a:solidFill>
                <a:latin typeface="Arial Narrow"/>
              </a:rPr>
              <a:t>PAUSE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475488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6973"/>
                </a:solidFill>
                <a:latin typeface="Arial"/>
              </a:rPr>
              <a:t>shade → water → room</a:t>
            </a:r>
          </a:p>
        </p:txBody>
      </p:sp>
      <p:sp>
        <p:nvSpPr>
          <p:cNvPr id="17" name="Freeform"/>
          <p:cNvSpPr/>
          <p:nvPr/>
        </p:nvSpPr>
        <p:spPr>
          <a:xfrm>
            <a:off x="6632854" y="5370372"/>
            <a:ext cx="2498547" cy="516940"/>
          </a:xfrm>
          <a:custGeom>
            <a:avLst/>
            <a:gdLst/>
            <a:pathLst>
              <a:path w="2498547" h="516940">
                <a:moveTo>
                  <a:pt x="0" y="0"/>
                </a:moveTo>
                <a:cubicBezTo>
                  <a:pt x="0" y="0"/>
                  <a:pt x="2498547" y="0"/>
                  <a:pt x="2498547" y="0"/>
                </a:cubicBezTo>
                <a:close/>
                <a:moveTo>
                  <a:pt x="290779" y="258470"/>
                </a:moveTo>
                <a:cubicBezTo>
                  <a:pt x="290779" y="258470"/>
                  <a:pt x="2207767" y="258470"/>
                  <a:pt x="2207767" y="258470"/>
                </a:cubicBezTo>
                <a:close/>
                <a:moveTo>
                  <a:pt x="592327" y="516940"/>
                </a:moveTo>
                <a:cubicBezTo>
                  <a:pt x="592327" y="516940"/>
                  <a:pt x="1906219" y="516940"/>
                  <a:pt x="1906219" y="516940"/>
                </a:cubicBezTo>
                <a:close/>
              </a:path>
            </a:pathLst>
          </a:custGeom>
          <a:solidFill>
            <a:srgbClr val="FFFFFF"/>
          </a:solidFill>
          <a:ln w="13970">
            <a:solidFill>
              <a:srgbClr val="AEBCC0"/>
            </a:solidFill>
          </a:ln>
        </p:spPr>
      </p:sp>
      <p:sp>
        <p:nvSpPr>
          <p:cNvPr id="18" name="Freeform"/>
          <p:cNvSpPr/>
          <p:nvPr/>
        </p:nvSpPr>
        <p:spPr>
          <a:xfrm>
            <a:off x="6632854" y="5370372"/>
            <a:ext cx="2498547" cy="743102"/>
          </a:xfrm>
          <a:custGeom>
            <a:avLst/>
            <a:gdLst/>
            <a:pathLst>
              <a:path w="2498547" h="743102">
                <a:moveTo>
                  <a:pt x="0" y="0"/>
                </a:moveTo>
                <a:cubicBezTo>
                  <a:pt x="0" y="0"/>
                  <a:pt x="592327" y="743102"/>
                  <a:pt x="592327" y="743102"/>
                </a:cubicBezTo>
                <a:close/>
                <a:moveTo>
                  <a:pt x="2498547" y="0"/>
                </a:moveTo>
                <a:cubicBezTo>
                  <a:pt x="2498547" y="0"/>
                  <a:pt x="1906219" y="743102"/>
                  <a:pt x="1906219" y="743102"/>
                </a:cubicBez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9" name="Freeform"/>
          <p:cNvSpPr/>
          <p:nvPr/>
        </p:nvSpPr>
        <p:spPr>
          <a:xfrm>
            <a:off x="6611315" y="5348833"/>
            <a:ext cx="43078" cy="43078"/>
          </a:xfrm>
          <a:custGeom>
            <a:avLst/>
            <a:gdLst/>
            <a:pathLst>
              <a:path w="43078" h="43078">
                <a:moveTo>
                  <a:pt x="43078" y="21539"/>
                </a:moveTo>
                <a:cubicBezTo>
                  <a:pt x="43078" y="9643"/>
                  <a:pt x="33434" y="0"/>
                  <a:pt x="21539" y="0"/>
                </a:cubicBezTo>
                <a:cubicBezTo>
                  <a:pt x="9643" y="0"/>
                  <a:pt x="0" y="9643"/>
                  <a:pt x="0" y="21539"/>
                </a:cubicBezTo>
                <a:cubicBezTo>
                  <a:pt x="0" y="33434"/>
                  <a:pt x="9643" y="43078"/>
                  <a:pt x="21539" y="43078"/>
                </a:cubicBezTo>
                <a:cubicBezTo>
                  <a:pt x="33434" y="43078"/>
                  <a:pt x="43078" y="33434"/>
                  <a:pt x="43078" y="21539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20" name="Freeform"/>
          <p:cNvSpPr/>
          <p:nvPr/>
        </p:nvSpPr>
        <p:spPr>
          <a:xfrm>
            <a:off x="9109862" y="5348833"/>
            <a:ext cx="43078" cy="43078"/>
          </a:xfrm>
          <a:custGeom>
            <a:avLst/>
            <a:gdLst/>
            <a:pathLst>
              <a:path w="43078" h="43078">
                <a:moveTo>
                  <a:pt x="43078" y="21539"/>
                </a:moveTo>
                <a:cubicBezTo>
                  <a:pt x="43078" y="9643"/>
                  <a:pt x="33434" y="0"/>
                  <a:pt x="21539" y="0"/>
                </a:cubicBezTo>
                <a:cubicBezTo>
                  <a:pt x="9643" y="0"/>
                  <a:pt x="0" y="9643"/>
                  <a:pt x="0" y="21539"/>
                </a:cubicBezTo>
                <a:cubicBezTo>
                  <a:pt x="0" y="33434"/>
                  <a:pt x="9643" y="43078"/>
                  <a:pt x="21539" y="43078"/>
                </a:cubicBezTo>
                <a:cubicBezTo>
                  <a:pt x="33434" y="43078"/>
                  <a:pt x="43078" y="33434"/>
                  <a:pt x="43078" y="21539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21" name="Freeform"/>
          <p:cNvSpPr/>
          <p:nvPr/>
        </p:nvSpPr>
        <p:spPr>
          <a:xfrm>
            <a:off x="7209028" y="6097320"/>
            <a:ext cx="32308" cy="32308"/>
          </a:xfrm>
          <a:custGeom>
            <a:avLst/>
            <a:gdLst/>
            <a:pathLst>
              <a:path w="32308" h="32308">
                <a:moveTo>
                  <a:pt x="32308" y="16153"/>
                </a:moveTo>
                <a:cubicBezTo>
                  <a:pt x="32308" y="7232"/>
                  <a:pt x="25075" y="0"/>
                  <a:pt x="16154" y="0"/>
                </a:cubicBezTo>
                <a:cubicBezTo>
                  <a:pt x="7232" y="0"/>
                  <a:pt x="0" y="7232"/>
                  <a:pt x="0" y="16153"/>
                </a:cubicBezTo>
                <a:cubicBezTo>
                  <a:pt x="0" y="25075"/>
                  <a:pt x="7232" y="32308"/>
                  <a:pt x="16154" y="32308"/>
                </a:cubicBezTo>
                <a:cubicBezTo>
                  <a:pt x="25075" y="32308"/>
                  <a:pt x="32308" y="25075"/>
                  <a:pt x="32308" y="16153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22" name="Freeform"/>
          <p:cNvSpPr/>
          <p:nvPr/>
        </p:nvSpPr>
        <p:spPr>
          <a:xfrm>
            <a:off x="8522919" y="6097320"/>
            <a:ext cx="32308" cy="32308"/>
          </a:xfrm>
          <a:custGeom>
            <a:avLst/>
            <a:gdLst/>
            <a:pathLst>
              <a:path w="32308" h="32308">
                <a:moveTo>
                  <a:pt x="32308" y="16153"/>
                </a:moveTo>
                <a:cubicBezTo>
                  <a:pt x="32308" y="7232"/>
                  <a:pt x="25075" y="0"/>
                  <a:pt x="16154" y="0"/>
                </a:cubicBezTo>
                <a:cubicBezTo>
                  <a:pt x="7232" y="0"/>
                  <a:pt x="0" y="7232"/>
                  <a:pt x="0" y="16153"/>
                </a:cubicBezTo>
                <a:cubicBezTo>
                  <a:pt x="0" y="25075"/>
                  <a:pt x="7232" y="32308"/>
                  <a:pt x="16154" y="32308"/>
                </a:cubicBezTo>
                <a:cubicBezTo>
                  <a:pt x="25075" y="32308"/>
                  <a:pt x="32308" y="25075"/>
                  <a:pt x="32308" y="16153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5358384" y="6364224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5969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4512" y="6126480"/>
            <a:ext cx="585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B7C1C2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